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slide" Target="slides/slide20.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b071bd871d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b071bd871d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b071bd871d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b071bd871d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b071bd871d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b071bd871d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b071bd871d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b071bd871d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b071bd871d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b071bd871d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b071bd871d_1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b071bd871d_1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b071bd871d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b071bd871d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b071bd871d_1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b071bd871d_1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b071bd871d_1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b071bd871d_1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b071bd871d_1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b071bd871d_1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b071bd871d_1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b071bd871d_1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b071bd871d_1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b071bd871d_1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b071bd871d_1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b071bd871d_1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b071bd871d_1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b071bd871d_1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b071bd871d_1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b071bd871d_1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b071bd871d_1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b071bd871d_1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b086325399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b086325399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b131cdb81a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b131cdb81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b071bd871d_1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b071bd871d_1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b071bd871d_1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b071bd871d_1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1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13.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3.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www.retrosheet.org" TargetMode="External"/><Relationship Id="rId4" Type="http://schemas.openxmlformats.org/officeDocument/2006/relationships/hyperlink" Target="https://www.retrosheet.or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descr="Beautify this slide" id="54" name="Google Shape;54;p13"/>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pic>
        <p:nvPicPr>
          <p:cNvPr descr="create a slide talking about the rise of analytics in sports and especially how its used in baseball" id="59" name="Google Shape;59;p14"/>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pic>
        <p:nvPicPr>
          <p:cNvPr descr="this slide will introduce the objective of this project: The primary goal of this project is to infer the key determinants of victory in Major League Baseball matchups, with a specific focus on the New York Yankees. The methodology will involve creating a predictive model using logistic regression, but the primary goal is to utilize the predictive framework as a means of explanatory modeling. The primary response variable of interest in the data is the matchup outcome for the New York Yankees, a win or loss. Given the high degree of multicollinearity inherent in baseball statistics, we employ predictive regularization techniques not only to forecast outcomes, but to stabilize coefficient estimates and perform robust variable selection. Lastly, the notion of 'home field advantage' will be explored to assess its impact on game outcomes and to determine whether playing at home significantly influences the Yankees' likelihood of winning.&#10;" id="64" name="Google Shape;64;p15"/>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descr="Create a slide that goes over the data being analyzed, he dataset consists of gamelogs from the 2021-2025 MLB seasons, available from Retrosheet. Focusing in on the New York Yankees (NYY) matchups, the data consists of 56 features and 820 observations. The original data has been cleaned, modified and feature engineered for a more robust analysis. The original data information can be found here, provided by Retrosheet. For our analysis, the table below shows the data after all the pre-processing.&#10;the data can be summed up in an infographic and does not have to be fully extensive Variable Name&#10;Value&#10;Type&#10;Date&#10;YYYY-MM-DD&#10;date&#10;Opponent&#10;opposing team identifier&#10;string&#10;Win&#10;1 (win), 0 (loss)&#10;binary&#10;home_game&#10;1 (home), 0 (away)&#10;binary&#10;(team/opp)_at_bat&#10;numerical game statistic&#10;numerical&#10;(team/opp)_hits&#10;numerical game statistic&#10;numerical&#10;(team/opp)_score&#10;numerical game statistic&#10;numerical&#10;(team/opp)_doubles&#10;numerical game statistic&#10;numerical&#10;(team/opp)_sac_hits&#10;numerical game statistic&#10;numerical&#10;(team/opp)_sac_flies&#10;numerical game statistic&#10;numerical&#10;(team/opp)_hit_by_pitch&#10;numerical game statistic&#10;numerical&#10;(team/opp)_walks&#10;numerical game statistic&#10;numerical&#10;(team/opp)_intentional_walks&#10;numerical game statistic&#10;numerical&#10;(team/opp)_strikeouts&#10;numerical game statistic&#10;numerical&#10;(team/opp)_stolen_bases&#10;numerical game statistic&#10;numerical&#10;(team/opp)_caught_stealing&#10;numerical game statistic&#10;numerical&#10;(team/opp)_grounded_DP&#10;numerical game statistic&#10;numerical&#10;(team/opp)_awarded_first&#10;numerical game statistic&#10;numerical&#10;(team/opp)f_left_on_base&#10;numerical game statistic&#10;numerical&#10;(team/opp)_pitchers_used&#10;numerical game statistic&#10;numerical&#10;(team/opp)_team_earned_runs&#10;numerical game statistic&#10;numerical&#10;(team/opp)_wild_pitches&#10;numerical game statistic&#10;numerical&#10;(team/opp)_balks&#10;numerical game statistic&#10;numerical&#10;(team/opp)_putouts&#10;numerical game statistic&#10;numerical&#10;(team/opp)_assists&#10;numerical game statistic&#10;numerical&#10;(team/opp)_errors&#10;numerical game statistic&#10;numerical&#10;(team/opp)_passed_balls&#10;numerical game statistic&#10;numerical&#10;(team/opp)_double_plays&#10;numerical game statistic&#10;numerical&#10;(team/opp)_triple_plays&#10;numerical game statistic&#10;numerical&#10;Each numerical game statistic appears twice as a predictor, one designated for the Yankees (team_) and the other designated for the opposing team (opp_) in the matchup. These predictors can be broken down into different functions of measurements in a game.&#10;&#10;Category&#10;Variable (prefix team_ / opp_)&#10;Function&#10;Offensive Production&#10;at_bat, hits, score, doubles, stolen_bases&#10;Measures ability to gain bases and score runs.&#10;Pitching &amp; Defensive Production&#10;walks, intentional_walks, strikeouts, hit_by_pitch&#10;Measures defensive efficiency and pitching stability.&#10;Plate Discipline&#10;sac_hits, sac_flies, caught_stealing&#10;Measures control of the strike zone.&#10;Play Strategy&#10;pitchers_used, earned_runs, wild_pitches, balks, errors, passed_balls, double_plays, putouts&#10;Measures tactical plays to advance runners.&#10;&#10;&#10;" id="69" name="Google Shape;69;p16"/>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pic>
        <p:nvPicPr>
          <p:cNvPr descr="Logistic Regression Model&#10;&#10;A logistic regression model is used to model the matchup result for the New York Yankees (response variable) with the in-game statistics (predictor variables). The in-game statistics listed in the above table are highly correlated with each other in nature. For example, a score or run in a game is a direct result of a hit. Many statistics in a baseball game can be derived from another. As the goal for the project is drawing inference from the data, applying an elastic-net regularization term bolsters the analysis. The elastic-net will perform variable selection while also dealing with highly correlated predictors at the same time, offering a robust and reliable approach to identify the most relevant predictors influencing the matchup result. &#10;&#10;In order to utilize the logistic regression technique and elastic-net to the best degree, the predictors are transformed for this specific portion of the analysis. To perform the analysis, we take the difference in the in-game statistics that are shared between the two teams and use this difference as the predictors in the model. This approach allows the elastic net to select the most relevant variables more clearly, avoiding confusion that could arise if it were to choose variables separately for each team. By using the differences, the model more straightforwardly captures the relative performance, leading to more interpretable and consistent results.&#10;&#10;The single baseline logistic regression model analysis will serve multiple purposes. The model accuracy output will help provide credibility for the model and establish if there are any potential data leaks. A good model accuracy translates to having relevant predictors in the model. The inferences we hope to make from the model are only valid if the model itself works. Once accuracy and credibility are established, we can identify the relevant parameters that influence the model the most. While training the model, it was uncovered that multiple predictors in the dataset had to be removed since the logistic regression technique could establish the probability of winning based off those data-leaking predictors. After removing those predictors, the model still performed well but not at an inflated rate (99% accuracy).  To further establish credibility for the predictors selected by the elastic-net, bootstrapping techniques are applied to further validate our results. &#10;summarize this in an infopgrahic slide" id="74" name="Google Shape;74;p17"/>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pic>
        <p:nvPicPr>
          <p:cNvPr descr="&#10;By applying bootstrapping techniques to our logistic regression model, we support then notion that a stable model equates to better inference. We use bootstrapping as a means of validation for the variables selected in the model. If we bootstrap thousands of times and see that the same predictors are repeatedly selected, we have confidence that those predictors are the key contributors to winning a baseball matchup. Crucially, since penalized regression methods like Elastic Net do not provide standard p-values, bootstrapping bridges the gap to inference by generating empirical confidence intervals; this allows us to formally test whether each predictor's impact is statistically distinguishable from zero.&#10;&#10;summarize this in an infographic" id="79" name="Google Shape;79;p18"/>
          <p:cNvPicPr preferRelativeResize="0"/>
          <p:nvPr/>
        </p:nvPicPr>
        <p:blipFill>
          <a:blip r:embed="rId3">
            <a:alphaModFix/>
          </a:blip>
          <a:stretch>
            <a:fillRect/>
          </a:stretch>
        </p:blipFill>
        <p:spPr>
          <a:xfrm>
            <a:off x="-71625" y="10"/>
            <a:ext cx="9215425" cy="5143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A one way ANOVA test is utilized to test if there are any significant differences between the games played at home or away. This will help uncover the notion if “home-field advantage” exists in the game of baseball at the professional level. The variables of interest in this study are the team’s offensive performance statistics, defensive performance statistics, and overall win rate. If the ANOVA results show a significant difference, it suggests that the location of the game (home or away) has an impact on team statistics. summarize in an infographic" id="84" name="Google Shape;84;p19"/>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descr="create a slide that just says analysis results on theme with the previous slides" id="89" name="Google Shape;89;p20"/>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descr="create an infographic that based on a single logistic regression model run with all the variables, the following were identified as data leaking:   -diff_score,diff_individual_earned_runs, diff_team_earned_runs,             &#10;         -diff_at_bat,                        &#10;         -diff_putouts,                                                                        &#10;         -diff_left_on_base,                &#10;         -diff_sac_flies,                                      &#10;         -diff_pitchers_used,              &#10;         -diff_triple_plays,                &#10;         -diff_awarded_first,               &#10;         -diff_HRs,                        &#10;         -diff_RBIs,            and try to group them together based on how the model would predict wins easier based off it, some have to do with predicitng the lenght of the game, some are directly correlated to the score " id="94" name="Google Shape;94;p21"/>
          <p:cNvPicPr preferRelativeResize="0"/>
          <p:nvPr/>
        </p:nvPicPr>
        <p:blipFill rotWithShape="1">
          <a:blip r:embed="rId3">
            <a:alphaModFix/>
          </a:blip>
          <a:srcRect b="13488" l="0" r="0" t="15855"/>
          <a:stretch/>
        </p:blipFill>
        <p:spPr>
          <a:xfrm>
            <a:off x="0" y="829075"/>
            <a:ext cx="9143545" cy="3606108"/>
          </a:xfrm>
          <a:prstGeom prst="rect">
            <a:avLst/>
          </a:prstGeom>
          <a:noFill/>
          <a:ln>
            <a:noFill/>
          </a:ln>
        </p:spPr>
      </p:pic>
      <p:sp>
        <p:nvSpPr>
          <p:cNvPr id="95" name="Google Shape;95;p21"/>
          <p:cNvSpPr txBox="1"/>
          <p:nvPr>
            <p:ph idx="4294967295" type="title"/>
          </p:nvPr>
        </p:nvSpPr>
        <p:spPr>
          <a:xfrm>
            <a:off x="311475" y="2563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1C4587"/>
                </a:solidFill>
              </a:rPr>
              <a:t>Logistic Regression: Data Leakage</a:t>
            </a:r>
            <a:endParaRPr b="1">
              <a:solidFill>
                <a:srgbClr val="1C4587"/>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22" title="tuning parameter.png"/>
          <p:cNvPicPr preferRelativeResize="0"/>
          <p:nvPr/>
        </p:nvPicPr>
        <p:blipFill>
          <a:blip r:embed="rId3">
            <a:alphaModFix/>
          </a:blip>
          <a:stretch>
            <a:fillRect/>
          </a:stretch>
        </p:blipFill>
        <p:spPr>
          <a:xfrm>
            <a:off x="48300" y="775384"/>
            <a:ext cx="4523699" cy="3360092"/>
          </a:xfrm>
          <a:prstGeom prst="rect">
            <a:avLst/>
          </a:prstGeom>
          <a:noFill/>
          <a:ln cap="flat" cmpd="sng" w="9525">
            <a:solidFill>
              <a:schemeClr val="dk2"/>
            </a:solidFill>
            <a:prstDash val="solid"/>
            <a:round/>
            <a:headEnd len="sm" w="sm" type="none"/>
            <a:tailEnd len="sm" w="sm" type="none"/>
          </a:ln>
        </p:spPr>
      </p:pic>
      <p:pic>
        <p:nvPicPr>
          <p:cNvPr id="101" name="Google Shape;101;p22" title="single run ROC.png"/>
          <p:cNvPicPr preferRelativeResize="0"/>
          <p:nvPr/>
        </p:nvPicPr>
        <p:blipFill>
          <a:blip r:embed="rId4">
            <a:alphaModFix/>
          </a:blip>
          <a:stretch>
            <a:fillRect/>
          </a:stretch>
        </p:blipFill>
        <p:spPr>
          <a:xfrm>
            <a:off x="4572000" y="775375"/>
            <a:ext cx="4523712" cy="3360100"/>
          </a:xfrm>
          <a:prstGeom prst="rect">
            <a:avLst/>
          </a:prstGeom>
          <a:noFill/>
          <a:ln cap="flat" cmpd="sng" w="9525">
            <a:solidFill>
              <a:schemeClr val="dk2"/>
            </a:solidFill>
            <a:prstDash val="solid"/>
            <a:round/>
            <a:headEnd len="sm" w="sm" type="none"/>
            <a:tailEnd len="sm" w="sm" type="none"/>
          </a:ln>
        </p:spPr>
      </p:pic>
      <p:sp>
        <p:nvSpPr>
          <p:cNvPr id="102" name="Google Shape;102;p22"/>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1C4587"/>
                </a:solidFill>
              </a:rPr>
              <a:t>Logistic Regression: Results</a:t>
            </a:r>
            <a:endParaRPr b="1">
              <a:solidFill>
                <a:srgbClr val="1C4587"/>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3"/>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1C4587"/>
                </a:solidFill>
              </a:rPr>
              <a:t>Logistic Regression: Results</a:t>
            </a:r>
            <a:endParaRPr b="1">
              <a:solidFill>
                <a:srgbClr val="1C4587"/>
              </a:solidFill>
            </a:endParaRPr>
          </a:p>
        </p:txBody>
      </p:sp>
      <p:pic>
        <p:nvPicPr>
          <p:cNvPr id="108" name="Google Shape;108;p23" title="variable selection one.png"/>
          <p:cNvPicPr preferRelativeResize="0"/>
          <p:nvPr/>
        </p:nvPicPr>
        <p:blipFill>
          <a:blip r:embed="rId3">
            <a:alphaModFix/>
          </a:blip>
          <a:stretch>
            <a:fillRect/>
          </a:stretch>
        </p:blipFill>
        <p:spPr>
          <a:xfrm>
            <a:off x="1489938" y="524650"/>
            <a:ext cx="6164126" cy="4578601"/>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4"/>
          <p:cNvSpPr txBox="1"/>
          <p:nvPr>
            <p:ph type="title"/>
          </p:nvPr>
        </p:nvSpPr>
        <p:spPr>
          <a:xfrm>
            <a:off x="46075" y="58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1C4587"/>
                </a:solidFill>
              </a:rPr>
              <a:t>Bootstrapping</a:t>
            </a:r>
            <a:endParaRPr b="1">
              <a:solidFill>
                <a:srgbClr val="1C4587"/>
              </a:solidFill>
            </a:endParaRPr>
          </a:p>
        </p:txBody>
      </p:sp>
      <p:pic>
        <p:nvPicPr>
          <p:cNvPr id="114" name="Google Shape;114;p24" title="boot auc.png"/>
          <p:cNvPicPr preferRelativeResize="0"/>
          <p:nvPr/>
        </p:nvPicPr>
        <p:blipFill rotWithShape="1">
          <a:blip r:embed="rId3">
            <a:alphaModFix/>
          </a:blip>
          <a:srcRect b="0" l="0" r="3717" t="0"/>
          <a:stretch/>
        </p:blipFill>
        <p:spPr>
          <a:xfrm>
            <a:off x="1887475" y="561450"/>
            <a:ext cx="5723951" cy="4415525"/>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5"/>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1C4587"/>
                </a:solidFill>
              </a:rPr>
              <a:t>Bootstrapping</a:t>
            </a:r>
            <a:endParaRPr b="1">
              <a:solidFill>
                <a:srgbClr val="1C4587"/>
              </a:solidFill>
            </a:endParaRPr>
          </a:p>
        </p:txBody>
      </p:sp>
      <p:pic>
        <p:nvPicPr>
          <p:cNvPr id="120" name="Google Shape;120;p25" title="boot variable selection.png"/>
          <p:cNvPicPr preferRelativeResize="0"/>
          <p:nvPr/>
        </p:nvPicPr>
        <p:blipFill>
          <a:blip r:embed="rId3">
            <a:alphaModFix/>
          </a:blip>
          <a:stretch>
            <a:fillRect/>
          </a:stretch>
        </p:blipFill>
        <p:spPr>
          <a:xfrm>
            <a:off x="1529530" y="572700"/>
            <a:ext cx="6084945" cy="4519774"/>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6"/>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1C4587"/>
                </a:solidFill>
              </a:rPr>
              <a:t>Bootstrapping</a:t>
            </a:r>
            <a:endParaRPr b="1">
              <a:solidFill>
                <a:srgbClr val="1C4587"/>
              </a:solidFill>
            </a:endParaRPr>
          </a:p>
        </p:txBody>
      </p:sp>
      <p:pic>
        <p:nvPicPr>
          <p:cNvPr id="126" name="Google Shape;126;p26" title="boot coeff.png"/>
          <p:cNvPicPr preferRelativeResize="0"/>
          <p:nvPr/>
        </p:nvPicPr>
        <p:blipFill>
          <a:blip r:embed="rId3">
            <a:alphaModFix/>
          </a:blip>
          <a:stretch>
            <a:fillRect/>
          </a:stretch>
        </p:blipFill>
        <p:spPr>
          <a:xfrm>
            <a:off x="1512638" y="572700"/>
            <a:ext cx="6118725" cy="4544851"/>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7"/>
          <p:cNvSpPr txBox="1"/>
          <p:nvPr>
            <p:ph type="title"/>
          </p:nvPr>
        </p:nvSpPr>
        <p:spPr>
          <a:xfrm>
            <a:off x="311700" y="284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1C4587"/>
                </a:solidFill>
              </a:rPr>
              <a:t>Home Field Advantage: Chi-Square Test</a:t>
            </a:r>
            <a:endParaRPr b="1">
              <a:solidFill>
                <a:srgbClr val="1C4587"/>
              </a:solidFill>
            </a:endParaRPr>
          </a:p>
        </p:txBody>
      </p:sp>
      <p:sp>
        <p:nvSpPr>
          <p:cNvPr id="132" name="Google Shape;132;p27"/>
          <p:cNvSpPr txBox="1"/>
          <p:nvPr/>
        </p:nvSpPr>
        <p:spPr>
          <a:xfrm>
            <a:off x="4797300" y="1430075"/>
            <a:ext cx="4035000" cy="28629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0"/>
              </a:spcBef>
              <a:spcAft>
                <a:spcPts val="0"/>
              </a:spcAft>
              <a:buClr>
                <a:schemeClr val="dk1"/>
              </a:buClr>
              <a:buSzPts val="1200"/>
              <a:buChar char="●"/>
            </a:pPr>
            <a:r>
              <a:rPr lang="en" sz="1200">
                <a:solidFill>
                  <a:schemeClr val="dk1"/>
                </a:solidFill>
              </a:rPr>
              <a:t>Chi-Square test used for binary outcome (win/loss)</a:t>
            </a:r>
            <a:endParaRPr sz="1200">
              <a:solidFill>
                <a:schemeClr val="dk1"/>
              </a:solidFill>
            </a:endParaRPr>
          </a:p>
          <a:p>
            <a:pPr indent="-304800" lvl="0" marL="457200" rtl="0" algn="l">
              <a:lnSpc>
                <a:spcPct val="150000"/>
              </a:lnSpc>
              <a:spcBef>
                <a:spcPts val="0"/>
              </a:spcBef>
              <a:spcAft>
                <a:spcPts val="0"/>
              </a:spcAft>
              <a:buClr>
                <a:schemeClr val="dk1"/>
              </a:buClr>
              <a:buSzPts val="1200"/>
              <a:buChar char="●"/>
            </a:pPr>
            <a:r>
              <a:rPr lang="en" sz="1200">
                <a:solidFill>
                  <a:schemeClr val="dk1"/>
                </a:solidFill>
              </a:rPr>
              <a:t>Home win rate: 59.01% vs Away win rate: 54.81%</a:t>
            </a:r>
            <a:endParaRPr sz="1200">
              <a:solidFill>
                <a:schemeClr val="dk1"/>
              </a:solidFill>
            </a:endParaRPr>
          </a:p>
          <a:p>
            <a:pPr indent="-304800" lvl="0" marL="457200" rtl="0" algn="l">
              <a:lnSpc>
                <a:spcPct val="150000"/>
              </a:lnSpc>
              <a:spcBef>
                <a:spcPts val="0"/>
              </a:spcBef>
              <a:spcAft>
                <a:spcPts val="0"/>
              </a:spcAft>
              <a:buClr>
                <a:schemeClr val="dk1"/>
              </a:buClr>
              <a:buSzPts val="1200"/>
              <a:buChar char="●"/>
            </a:pPr>
            <a:r>
              <a:rPr lang="en" sz="1200">
                <a:solidFill>
                  <a:schemeClr val="dk1"/>
                </a:solidFill>
              </a:rPr>
              <a:t>Test statistic: χ² = 1.289, p-value = 0.256 (NOT statistically significant)</a:t>
            </a:r>
            <a:endParaRPr sz="1200">
              <a:solidFill>
                <a:schemeClr val="dk1"/>
              </a:solidFill>
            </a:endParaRPr>
          </a:p>
          <a:p>
            <a:pPr indent="-304800" lvl="0" marL="457200" rtl="0" algn="l">
              <a:lnSpc>
                <a:spcPct val="150000"/>
              </a:lnSpc>
              <a:spcBef>
                <a:spcPts val="0"/>
              </a:spcBef>
              <a:spcAft>
                <a:spcPts val="0"/>
              </a:spcAft>
              <a:buClr>
                <a:schemeClr val="dk1"/>
              </a:buClr>
              <a:buSzPts val="1200"/>
              <a:buChar char="●"/>
            </a:pPr>
            <a:r>
              <a:rPr lang="en" sz="1200">
                <a:solidFill>
                  <a:schemeClr val="dk1"/>
                </a:solidFill>
              </a:rPr>
              <a:t>Effect size (Cramer's V): 0.04 (negligible)</a:t>
            </a:r>
            <a:endParaRPr sz="1200">
              <a:solidFill>
                <a:schemeClr val="dk1"/>
              </a:solidFill>
            </a:endParaRPr>
          </a:p>
          <a:p>
            <a:pPr indent="-304800" lvl="0" marL="457200" rtl="0" algn="l">
              <a:lnSpc>
                <a:spcPct val="150000"/>
              </a:lnSpc>
              <a:spcBef>
                <a:spcPts val="0"/>
              </a:spcBef>
              <a:spcAft>
                <a:spcPts val="0"/>
              </a:spcAft>
              <a:buClr>
                <a:schemeClr val="dk1"/>
              </a:buClr>
              <a:buSzPts val="1200"/>
              <a:buChar char="●"/>
            </a:pPr>
            <a:r>
              <a:rPr b="1" lang="en" sz="1200">
                <a:solidFill>
                  <a:schemeClr val="dk1"/>
                </a:solidFill>
              </a:rPr>
              <a:t>Takeaway: </a:t>
            </a:r>
            <a:r>
              <a:rPr lang="en" sz="1200">
                <a:solidFill>
                  <a:schemeClr val="dk1"/>
                </a:solidFill>
              </a:rPr>
              <a:t>These results suggest that playing at home does not significantly increase the Yankees' probability of winning.</a:t>
            </a:r>
            <a:endParaRPr sz="1200">
              <a:solidFill>
                <a:schemeClr val="dk1"/>
              </a:solidFill>
            </a:endParaRPr>
          </a:p>
          <a:p>
            <a:pPr indent="0" lvl="0" marL="0" rtl="0" algn="l">
              <a:lnSpc>
                <a:spcPct val="150000"/>
              </a:lnSpc>
              <a:spcBef>
                <a:spcPts val="0"/>
              </a:spcBef>
              <a:spcAft>
                <a:spcPts val="0"/>
              </a:spcAft>
              <a:buNone/>
            </a:pPr>
            <a:r>
              <a:t/>
            </a:r>
            <a:endParaRPr sz="1200">
              <a:solidFill>
                <a:schemeClr val="dk1"/>
              </a:solidFill>
            </a:endParaRPr>
          </a:p>
        </p:txBody>
      </p:sp>
      <p:pic>
        <p:nvPicPr>
          <p:cNvPr id="133" name="Google Shape;133;p27" title="anova_win_rate_comparison.png"/>
          <p:cNvPicPr preferRelativeResize="0"/>
          <p:nvPr/>
        </p:nvPicPr>
        <p:blipFill>
          <a:blip r:embed="rId3">
            <a:alphaModFix/>
          </a:blip>
          <a:stretch>
            <a:fillRect/>
          </a:stretch>
        </p:blipFill>
        <p:spPr>
          <a:xfrm>
            <a:off x="152400" y="1009150"/>
            <a:ext cx="3981951" cy="398195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8"/>
          <p:cNvSpPr txBox="1"/>
          <p:nvPr>
            <p:ph type="title"/>
          </p:nvPr>
        </p:nvSpPr>
        <p:spPr>
          <a:xfrm>
            <a:off x="311700" y="284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b="1" lang="en">
                <a:solidFill>
                  <a:srgbClr val="1C4587"/>
                </a:solidFill>
              </a:rPr>
              <a:t>Home Field Advantage: ANOVA Tests</a:t>
            </a:r>
            <a:endParaRPr b="1">
              <a:solidFill>
                <a:srgbClr val="1C4587"/>
              </a:solidFill>
            </a:endParaRPr>
          </a:p>
        </p:txBody>
      </p:sp>
      <p:pic>
        <p:nvPicPr>
          <p:cNvPr id="139" name="Google Shape;139;p28" title="anova_home_away_significant.png"/>
          <p:cNvPicPr preferRelativeResize="0"/>
          <p:nvPr/>
        </p:nvPicPr>
        <p:blipFill>
          <a:blip r:embed="rId3">
            <a:alphaModFix/>
          </a:blip>
          <a:stretch>
            <a:fillRect/>
          </a:stretch>
        </p:blipFill>
        <p:spPr>
          <a:xfrm>
            <a:off x="153325" y="1242950"/>
            <a:ext cx="4573926" cy="3430449"/>
          </a:xfrm>
          <a:prstGeom prst="rect">
            <a:avLst/>
          </a:prstGeom>
          <a:noFill/>
          <a:ln>
            <a:noFill/>
          </a:ln>
        </p:spPr>
      </p:pic>
      <p:sp>
        <p:nvSpPr>
          <p:cNvPr id="140" name="Google Shape;140;p28"/>
          <p:cNvSpPr txBox="1"/>
          <p:nvPr/>
        </p:nvSpPr>
        <p:spPr>
          <a:xfrm>
            <a:off x="4895350" y="1242950"/>
            <a:ext cx="3893400" cy="4079100"/>
          </a:xfrm>
          <a:prstGeom prst="rect">
            <a:avLst/>
          </a:prstGeom>
          <a:noFill/>
          <a:ln>
            <a:noFill/>
          </a:ln>
        </p:spPr>
        <p:txBody>
          <a:bodyPr anchorCtr="0" anchor="t" bIns="91425" lIns="91425" spcFirstLastPara="1" rIns="91425" wrap="square" tIns="91425">
            <a:spAutoFit/>
          </a:bodyPr>
          <a:lstStyle/>
          <a:p>
            <a:pPr indent="-298450" lvl="0" marL="457200" rtl="0" algn="l">
              <a:lnSpc>
                <a:spcPct val="150000"/>
              </a:lnSpc>
              <a:spcBef>
                <a:spcPts val="1200"/>
              </a:spcBef>
              <a:spcAft>
                <a:spcPts val="0"/>
              </a:spcAft>
              <a:buClr>
                <a:schemeClr val="dk1"/>
              </a:buClr>
              <a:buSzPts val="1100"/>
              <a:buChar char="●"/>
            </a:pPr>
            <a:r>
              <a:rPr lang="en" sz="1100">
                <a:solidFill>
                  <a:schemeClr val="dk1"/>
                </a:solidFill>
              </a:rPr>
              <a:t>One-way ANOVA tests conducted on 9 chosen continuous performance metrics</a:t>
            </a:r>
            <a:endParaRPr sz="1100">
              <a:solidFill>
                <a:schemeClr val="dk1"/>
              </a:solidFill>
            </a:endParaRPr>
          </a:p>
          <a:p>
            <a:pPr indent="-298450" lvl="0" marL="457200" rtl="0" algn="l">
              <a:lnSpc>
                <a:spcPct val="150000"/>
              </a:lnSpc>
              <a:spcBef>
                <a:spcPts val="0"/>
              </a:spcBef>
              <a:spcAft>
                <a:spcPts val="0"/>
              </a:spcAft>
              <a:buClr>
                <a:schemeClr val="dk1"/>
              </a:buClr>
              <a:buSzPts val="1100"/>
              <a:buChar char="●"/>
            </a:pPr>
            <a:r>
              <a:rPr lang="en" sz="1100">
                <a:solidFill>
                  <a:schemeClr val="dk1"/>
                </a:solidFill>
              </a:rPr>
              <a:t>Bonferroni correction applied (α = 0.005) to control for multiple comparisons</a:t>
            </a:r>
            <a:endParaRPr sz="1100">
              <a:solidFill>
                <a:schemeClr val="dk1"/>
              </a:solidFill>
            </a:endParaRPr>
          </a:p>
          <a:p>
            <a:pPr indent="-298450" lvl="0" marL="457200" rtl="0" algn="l">
              <a:lnSpc>
                <a:spcPct val="150000"/>
              </a:lnSpc>
              <a:spcBef>
                <a:spcPts val="0"/>
              </a:spcBef>
              <a:spcAft>
                <a:spcPts val="0"/>
              </a:spcAft>
              <a:buClr>
                <a:schemeClr val="dk1"/>
              </a:buClr>
              <a:buSzPts val="1100"/>
              <a:buChar char="●"/>
            </a:pPr>
            <a:r>
              <a:rPr lang="en" sz="1100">
                <a:solidFill>
                  <a:schemeClr val="dk1"/>
                </a:solidFill>
              </a:rPr>
              <a:t>Only 3 of 9 variables showed significant differences:</a:t>
            </a:r>
            <a:endParaRPr sz="1100">
              <a:solidFill>
                <a:schemeClr val="dk1"/>
              </a:solidFill>
            </a:endParaRPr>
          </a:p>
          <a:p>
            <a:pPr indent="-298450" lvl="1" marL="914400" rtl="0" algn="l">
              <a:lnSpc>
                <a:spcPct val="150000"/>
              </a:lnSpc>
              <a:spcBef>
                <a:spcPts val="0"/>
              </a:spcBef>
              <a:spcAft>
                <a:spcPts val="0"/>
              </a:spcAft>
              <a:buClr>
                <a:schemeClr val="dk1"/>
              </a:buClr>
              <a:buSzPts val="1100"/>
              <a:buChar char="○"/>
            </a:pPr>
            <a:r>
              <a:rPr lang="en" sz="1100">
                <a:solidFill>
                  <a:schemeClr val="dk1"/>
                </a:solidFill>
              </a:rPr>
              <a:t>Team Hits: Away (8.45) &gt; Home (7.61)</a:t>
            </a:r>
            <a:endParaRPr sz="1100">
              <a:solidFill>
                <a:schemeClr val="dk1"/>
              </a:solidFill>
            </a:endParaRPr>
          </a:p>
          <a:p>
            <a:pPr indent="-298450" lvl="1" marL="914400" rtl="0" algn="l">
              <a:lnSpc>
                <a:spcPct val="150000"/>
              </a:lnSpc>
              <a:spcBef>
                <a:spcPts val="0"/>
              </a:spcBef>
              <a:spcAft>
                <a:spcPts val="0"/>
              </a:spcAft>
              <a:buClr>
                <a:schemeClr val="dk1"/>
              </a:buClr>
              <a:buSzPts val="1100"/>
              <a:buChar char="○"/>
            </a:pPr>
            <a:r>
              <a:rPr lang="en" sz="1100">
                <a:solidFill>
                  <a:schemeClr val="dk1"/>
                </a:solidFill>
              </a:rPr>
              <a:t>Team Strikeouts: Away (9.13) &gt; Home (8.38)</a:t>
            </a:r>
            <a:endParaRPr sz="1100">
              <a:solidFill>
                <a:schemeClr val="dk1"/>
              </a:solidFill>
            </a:endParaRPr>
          </a:p>
          <a:p>
            <a:pPr indent="-298450" lvl="1" marL="914400" rtl="0" algn="l">
              <a:lnSpc>
                <a:spcPct val="150000"/>
              </a:lnSpc>
              <a:spcBef>
                <a:spcPts val="0"/>
              </a:spcBef>
              <a:spcAft>
                <a:spcPts val="0"/>
              </a:spcAft>
              <a:buClr>
                <a:schemeClr val="dk1"/>
              </a:buClr>
              <a:buSzPts val="1100"/>
              <a:buChar char="○"/>
            </a:pPr>
            <a:r>
              <a:rPr lang="en" sz="1100">
                <a:solidFill>
                  <a:schemeClr val="dk1"/>
                </a:solidFill>
              </a:rPr>
              <a:t>Opponent Strikeouts: Home (9.47) &gt; Away (8.72)</a:t>
            </a:r>
            <a:endParaRPr sz="1100">
              <a:solidFill>
                <a:schemeClr val="dk1"/>
              </a:solidFill>
            </a:endParaRPr>
          </a:p>
          <a:p>
            <a:pPr indent="-298450" lvl="0" marL="457200" rtl="0" algn="l">
              <a:lnSpc>
                <a:spcPct val="150000"/>
              </a:lnSpc>
              <a:spcBef>
                <a:spcPts val="0"/>
              </a:spcBef>
              <a:spcAft>
                <a:spcPts val="0"/>
              </a:spcAft>
              <a:buClr>
                <a:schemeClr val="dk1"/>
              </a:buClr>
              <a:buSzPts val="1100"/>
              <a:buChar char="●"/>
            </a:pPr>
            <a:r>
              <a:rPr lang="en" sz="1100">
                <a:solidFill>
                  <a:schemeClr val="dk1"/>
                </a:solidFill>
              </a:rPr>
              <a:t>All effect sizes small (η² &lt; 0.02), explaining less than 2% of variance</a:t>
            </a:r>
            <a:endParaRPr sz="1100">
              <a:solidFill>
                <a:schemeClr val="dk1"/>
              </a:solidFill>
            </a:endParaRPr>
          </a:p>
          <a:p>
            <a:pPr indent="-298450" lvl="0" marL="457200" rtl="0" algn="l">
              <a:lnSpc>
                <a:spcPct val="150000"/>
              </a:lnSpc>
              <a:spcBef>
                <a:spcPts val="0"/>
              </a:spcBef>
              <a:spcAft>
                <a:spcPts val="0"/>
              </a:spcAft>
              <a:buClr>
                <a:schemeClr val="dk1"/>
              </a:buClr>
              <a:buSzPts val="1100"/>
              <a:buChar char="●"/>
            </a:pPr>
            <a:r>
              <a:rPr b="1" lang="en" sz="1100">
                <a:solidFill>
                  <a:schemeClr val="dk1"/>
                </a:solidFill>
              </a:rPr>
              <a:t>Takeaway:</a:t>
            </a:r>
            <a:r>
              <a:rPr lang="en" sz="1100">
                <a:solidFill>
                  <a:schemeClr val="dk1"/>
                </a:solidFill>
              </a:rPr>
              <a:t> Yankees pitchers perform better at home, but the team records more hits and strikes out more away.</a:t>
            </a:r>
            <a:endParaRPr sz="1100">
              <a:solidFill>
                <a:schemeClr val="dk1"/>
              </a:solidFill>
            </a:endParaRPr>
          </a:p>
          <a:p>
            <a:pPr indent="0" lvl="0" marL="0" rtl="0" algn="l">
              <a:lnSpc>
                <a:spcPct val="150000"/>
              </a:lnSpc>
              <a:spcBef>
                <a:spcPts val="1200"/>
              </a:spcBef>
              <a:spcAft>
                <a:spcPts val="0"/>
              </a:spcAft>
              <a:buNone/>
            </a:pPr>
            <a:r>
              <a:t/>
            </a:r>
            <a:endParaRPr sz="12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9"/>
          <p:cNvSpPr txBox="1"/>
          <p:nvPr>
            <p:ph type="title"/>
          </p:nvPr>
        </p:nvSpPr>
        <p:spPr>
          <a:xfrm>
            <a:off x="311700" y="284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b="1" lang="en">
                <a:solidFill>
                  <a:srgbClr val="1C4587"/>
                </a:solidFill>
              </a:rPr>
              <a:t>Home Field Advantage: Full Results</a:t>
            </a:r>
            <a:endParaRPr b="1">
              <a:solidFill>
                <a:srgbClr val="1C4587"/>
              </a:solidFill>
            </a:endParaRPr>
          </a:p>
        </p:txBody>
      </p:sp>
      <p:pic>
        <p:nvPicPr>
          <p:cNvPr id="146" name="Google Shape;146;p29"/>
          <p:cNvPicPr preferRelativeResize="0"/>
          <p:nvPr/>
        </p:nvPicPr>
        <p:blipFill>
          <a:blip r:embed="rId3">
            <a:alphaModFix/>
          </a:blip>
          <a:stretch>
            <a:fillRect/>
          </a:stretch>
        </p:blipFill>
        <p:spPr>
          <a:xfrm>
            <a:off x="-12" y="1271667"/>
            <a:ext cx="9028374" cy="2187282"/>
          </a:xfrm>
          <a:prstGeom prst="rect">
            <a:avLst/>
          </a:prstGeom>
          <a:noFill/>
          <a:ln>
            <a:noFill/>
          </a:ln>
        </p:spPr>
      </p:pic>
      <p:sp>
        <p:nvSpPr>
          <p:cNvPr id="147" name="Google Shape;147;p29"/>
          <p:cNvSpPr txBox="1"/>
          <p:nvPr/>
        </p:nvSpPr>
        <p:spPr>
          <a:xfrm>
            <a:off x="686275" y="3919125"/>
            <a:ext cx="8034600" cy="861900"/>
          </a:xfrm>
          <a:prstGeom prst="rect">
            <a:avLst/>
          </a:prstGeom>
          <a:noFill/>
          <a:ln>
            <a:noFill/>
          </a:ln>
        </p:spPr>
        <p:txBody>
          <a:bodyPr anchorCtr="0" anchor="t" bIns="91425" lIns="91425" spcFirstLastPara="1" rIns="91425" wrap="square" tIns="91425">
            <a:spAutoFit/>
          </a:bodyPr>
          <a:lstStyle/>
          <a:p>
            <a:pPr indent="-298450" lvl="0" marL="457200" rtl="0" algn="l">
              <a:lnSpc>
                <a:spcPct val="150000"/>
              </a:lnSpc>
              <a:spcBef>
                <a:spcPts val="0"/>
              </a:spcBef>
              <a:spcAft>
                <a:spcPts val="0"/>
              </a:spcAft>
              <a:buSzPts val="1100"/>
              <a:buChar char="●"/>
            </a:pPr>
            <a:r>
              <a:rPr lang="en" sz="1100"/>
              <a:t>Key finding: Win rate and run scoring metrics (team_score, opp_score) show no significant home/away differences</a:t>
            </a:r>
            <a:endParaRPr sz="1100"/>
          </a:p>
          <a:p>
            <a:pPr indent="-298450" lvl="0" marL="457200" rtl="0" algn="l">
              <a:lnSpc>
                <a:spcPct val="150000"/>
              </a:lnSpc>
              <a:spcBef>
                <a:spcPts val="0"/>
              </a:spcBef>
              <a:spcAft>
                <a:spcPts val="0"/>
              </a:spcAft>
              <a:buSzPts val="1100"/>
              <a:buChar char="●"/>
            </a:pPr>
            <a:r>
              <a:rPr lang="en" sz="1100"/>
              <a:t>Home field advantage influences specific behaviors, but not game outcomes</a:t>
            </a:r>
            <a:endParaRPr sz="1100"/>
          </a:p>
          <a:p>
            <a:pPr indent="-298450" lvl="0" marL="457200" rtl="0" algn="l">
              <a:lnSpc>
                <a:spcPct val="150000"/>
              </a:lnSpc>
              <a:spcBef>
                <a:spcPts val="0"/>
              </a:spcBef>
              <a:spcAft>
                <a:spcPts val="0"/>
              </a:spcAft>
              <a:buSzPts val="1100"/>
              <a:buChar char="●"/>
            </a:pPr>
            <a:r>
              <a:rPr lang="en" sz="1100"/>
              <a:t>Practical implication: Game location should not be weighted heavily when predicting Yankees wins</a:t>
            </a:r>
            <a:endParaRPr sz="11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pic>
        <p:nvPicPr>
          <p:cNvPr descr="make a non technical summary infographic: This analysis used an Elastic Net model to identify a stable core of nine predictors that reliably distinguish winning baseball outcomes from losses, emphasizing that generating baserunners (through hits and walks) and executing clean defensive and strategic plays (like assists and sacrifice hits) are key, while aggressively avoiding major mistakes (such as errors, strikeouts, and grounded into double plays) significantly boosts a team's chances. Separately, an examination of the Yankees' performance found that while they recorded minor statistical differences at home—notably more pitcher strikeouts—the home field advantage did not statistically translate into a higher overall win rate or a meaningful increase in runs scored, suggesting that game location had a negligible effect on their ultimate success." id="152" name="Google Shape;152;p30"/>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pic>
        <p:nvPicPr>
          <p:cNvPr descr="infographic, do not go heavy on the words: &#10;The next major step in improving the model is moving from a single-team study to a league-wide study. The current limitations with this study that the inferences are only valid for the New York Yankees, and shouldn’t be generalized for every team in the major league. Future iterations of this study should expand the dataset to include all 30 MLB teams. This would increase the sample size vastly into the thousands. This would help decrease the overall bias in the study and bring more variability into the interpretation of the results. The greatest undertaking foreseen for this strategy is the massive amounts of data cleaning and preprocessing needed for the analysis to be applicable. &#10;&#10;After applying the analysis towards the greater population, the study can be further expanded by using what was learned from the inferential analysis and applying it in a predictive framework. Once there is a strong foundation developed for the key determinants of victory in MLB, we can apply that framework towards forecasting future game outcomes by aggregating the projected performance metrics of starting lineups to generate pre-game win probabilities. The same framework can be translated into a professional setting for MLB personnel such as optimizing roster construction for general managers or developing real-time data driven strategies for coaches in game. &#10;" id="157" name="Google Shape;157;p31"/>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2"/>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1C4587"/>
                </a:solidFill>
              </a:rPr>
              <a:t>Appendix</a:t>
            </a:r>
            <a:endParaRPr b="1">
              <a:solidFill>
                <a:srgbClr val="1C4587"/>
              </a:solidFill>
            </a:endParaRPr>
          </a:p>
        </p:txBody>
      </p:sp>
      <p:sp>
        <p:nvSpPr>
          <p:cNvPr id="163" name="Google Shape;163;p32"/>
          <p:cNvSpPr txBox="1"/>
          <p:nvPr/>
        </p:nvSpPr>
        <p:spPr>
          <a:xfrm>
            <a:off x="104650" y="527950"/>
            <a:ext cx="89508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dk1"/>
                </a:solidFill>
              </a:rPr>
              <a:t>Retrosheet.</a:t>
            </a:r>
            <a:r>
              <a:rPr lang="en" sz="1500">
                <a:solidFill>
                  <a:schemeClr val="dk1"/>
                </a:solidFill>
              </a:rPr>
              <a:t> (2025). </a:t>
            </a:r>
            <a:r>
              <a:rPr i="1" lang="en" sz="1500">
                <a:solidFill>
                  <a:schemeClr val="dk1"/>
                </a:solidFill>
              </a:rPr>
              <a:t>Game logs and event files [2021-2025]</a:t>
            </a:r>
            <a:r>
              <a:rPr lang="en" sz="1500">
                <a:solidFill>
                  <a:schemeClr val="dk1"/>
                </a:solidFill>
              </a:rPr>
              <a:t>. Retrieved from</a:t>
            </a:r>
            <a:r>
              <a:rPr lang="en" sz="1500">
                <a:solidFill>
                  <a:schemeClr val="dk1"/>
                </a:solidFill>
                <a:uFill>
                  <a:noFill/>
                </a:uFill>
                <a:hlinkClick r:id="rId3">
                  <a:extLst>
                    <a:ext uri="{A12FA001-AC4F-418D-AE19-62706E023703}">
                      <ahyp:hlinkClr val="tx"/>
                    </a:ext>
                  </a:extLst>
                </a:hlinkClick>
              </a:rPr>
              <a:t> </a:t>
            </a:r>
            <a:r>
              <a:rPr lang="en" sz="1500" u="sng">
                <a:solidFill>
                  <a:schemeClr val="hlink"/>
                </a:solidFill>
                <a:hlinkClick r:id="rId4"/>
              </a:rPr>
              <a:t>https://www.retrosheet.org</a:t>
            </a:r>
            <a:endParaRPr sz="22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